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4" r:id="rId5"/>
    <p:sldId id="322" r:id="rId6"/>
    <p:sldId id="343" r:id="rId7"/>
    <p:sldId id="346" r:id="rId8"/>
    <p:sldId id="345" r:id="rId9"/>
    <p:sldId id="344" r:id="rId10"/>
    <p:sldId id="3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94" autoAdjust="0"/>
  </p:normalViewPr>
  <p:slideViewPr>
    <p:cSldViewPr snapToGrid="0">
      <p:cViewPr varScale="1">
        <p:scale>
          <a:sx n="67" d="100"/>
          <a:sy n="67" d="100"/>
        </p:scale>
        <p:origin x="858" y="48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0217-952C-70A9-DAEC-5857874F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B2E18-F157-CC9C-A880-D92AB33F0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29A0A-37C6-2347-9487-EFDCAB182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B2590-2951-A8B7-33BE-BF1B72B17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63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6EAB-CAD4-7D35-E6DD-8A8D77AC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CBFCB-7B2E-E45A-B71B-8D84AE70E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05B3C-5949-4EB2-0B26-64CCF38DA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03F2-26A0-6348-B95B-CC78758D8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939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AEFC8-F1FA-053A-FC53-D4AE6176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FD9EE-4361-9043-BE63-79DB6096C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F65B8-1EEE-E2C4-6677-FEAAD4A9D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6E40C-07BE-2621-3470-D044A6125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07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486594"/>
            <a:ext cx="8961120" cy="5599062"/>
          </a:xfrm>
        </p:spPr>
        <p:txBody>
          <a:bodyPr/>
          <a:lstStyle/>
          <a:p>
            <a:r>
              <a:rPr lang="en-US" dirty="0"/>
              <a:t>Moore Machine Based Calculator</a:t>
            </a:r>
            <a:br>
              <a:rPr lang="en-US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Muhammad Maaz Saleem 23FA-013-CS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Muhammad Taha Nadeem 23FA-003-CS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1828800"/>
          </a:xfrm>
        </p:spPr>
        <p:txBody>
          <a:bodyPr/>
          <a:lstStyle/>
          <a:p>
            <a:r>
              <a:rPr lang="en-US" dirty="0"/>
              <a:t>Preventing Misleading Sequential Calculations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45D637-1B72-2E33-473B-6ECB1A65131C}"/>
              </a:ext>
            </a:extLst>
          </p:cNvPr>
          <p:cNvSpPr>
            <a:spLocks noGrp="1" noChangeArrowheads="1"/>
          </p:cNvSpPr>
          <p:nvPr>
            <p:ph sz="quarter" idx="26"/>
          </p:nvPr>
        </p:nvSpPr>
        <p:spPr bwMode="auto">
          <a:xfrm>
            <a:off x="471488" y="1775510"/>
            <a:ext cx="9672637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Our calculator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</a:t>
            </a:r>
            <a:r>
              <a:rPr lang="en-US" altLang="en-US" sz="2000" dirty="0">
                <a:latin typeface="Arial" panose="020B0604020202020204" pitchFamily="34" charset="0"/>
              </a:rPr>
              <a:t>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oore machine to display the automaton’s behavior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It allows only two digits to be computed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then asks for other inputs.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way user is not fooled by the assumption that BODMAS has been followed.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User gets aware that the first computation took place first.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Some simple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calculators evaluate expressions sequentially and keep accepting inputs which makes it seem like BODMAS is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being followed.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Lay users often assume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BODMAS rules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even when the calculator is not following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leads to misleading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Our calculator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enforces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explicit two-operand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D373E-1350-3BB6-720C-02F63DF8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B84E4-B7BF-435A-F11A-0D72759A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1828800"/>
          </a:xfrm>
        </p:spPr>
        <p:txBody>
          <a:bodyPr/>
          <a:lstStyle/>
          <a:p>
            <a:r>
              <a:rPr lang="en-US" dirty="0"/>
              <a:t>Why Moore Machine?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D09E2A-B50F-A3DB-5EE2-7601208A04C9}"/>
              </a:ext>
            </a:extLst>
          </p:cNvPr>
          <p:cNvSpPr>
            <a:spLocks noGrp="1" noChangeArrowheads="1"/>
          </p:cNvSpPr>
          <p:nvPr>
            <p:ph sz="quarter" idx="26"/>
          </p:nvPr>
        </p:nvSpPr>
        <p:spPr bwMode="auto">
          <a:xfrm>
            <a:off x="557212" y="1536192"/>
            <a:ext cx="10287000" cy="3974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 depends only on </a:t>
            </a:r>
            <a:r>
              <a:rPr lang="en-US" sz="2000" b="1" dirty="0"/>
              <a:t>current state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Finite and deterministic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Best for step-by-step input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Machine Components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States represent computation stages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Transitions triggered by input symbols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 generated from specific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FE30FDE-A34B-8008-90DC-94C3AB120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480" y="2743201"/>
            <a:ext cx="6502848" cy="257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6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CE89-93FC-FAFD-FAF3-3332ECEA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667" y="2936366"/>
            <a:ext cx="8180412" cy="1828800"/>
          </a:xfrm>
        </p:spPr>
        <p:txBody>
          <a:bodyPr/>
          <a:lstStyle/>
          <a:p>
            <a:r>
              <a:rPr lang="en-US" sz="6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91455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A1F2-5C40-F1CD-B2FE-8EBE9928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73E937-9879-14A4-9B80-3A8D686F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64" y="428459"/>
            <a:ext cx="8180412" cy="1828800"/>
          </a:xfrm>
        </p:spPr>
        <p:txBody>
          <a:bodyPr/>
          <a:lstStyle/>
          <a:p>
            <a:r>
              <a:rPr lang="en-US" dirty="0"/>
              <a:t>Working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649EFF2-082B-1C44-8142-82F7F3F06C3C}"/>
              </a:ext>
            </a:extLst>
          </p:cNvPr>
          <p:cNvGraphicFramePr>
            <a:graphicFrameLocks noGrp="1"/>
          </p:cNvGraphicFramePr>
          <p:nvPr>
            <p:ph sz="quarter" idx="26"/>
            <p:extLst>
              <p:ext uri="{D42A27DB-BD31-4B8C-83A1-F6EECF244321}">
                <p14:modId xmlns:p14="http://schemas.microsoft.com/office/powerpoint/2010/main" val="3865388928"/>
              </p:ext>
            </p:extLst>
          </p:nvPr>
        </p:nvGraphicFramePr>
        <p:xfrm>
          <a:off x="1566564" y="1471446"/>
          <a:ext cx="5720061" cy="495809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906687">
                  <a:extLst>
                    <a:ext uri="{9D8B030D-6E8A-4147-A177-3AD203B41FA5}">
                      <a16:colId xmlns:a16="http://schemas.microsoft.com/office/drawing/2014/main" val="4120402807"/>
                    </a:ext>
                  </a:extLst>
                </a:gridCol>
                <a:gridCol w="1906687">
                  <a:extLst>
                    <a:ext uri="{9D8B030D-6E8A-4147-A177-3AD203B41FA5}">
                      <a16:colId xmlns:a16="http://schemas.microsoft.com/office/drawing/2014/main" val="2344316786"/>
                    </a:ext>
                  </a:extLst>
                </a:gridCol>
                <a:gridCol w="1906687">
                  <a:extLst>
                    <a:ext uri="{9D8B030D-6E8A-4147-A177-3AD203B41FA5}">
                      <a16:colId xmlns:a16="http://schemas.microsoft.com/office/drawing/2014/main" val="3267096816"/>
                    </a:ext>
                  </a:extLst>
                </a:gridCol>
              </a:tblGrid>
              <a:tr h="591491"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20417"/>
                  </a:ext>
                </a:extLst>
              </a:tr>
              <a:tr h="591491"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135477"/>
                  </a:ext>
                </a:extLst>
              </a:tr>
              <a:tr h="718882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Building first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first operand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795902"/>
                  </a:ext>
                </a:extLst>
              </a:tr>
              <a:tr h="718882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Operator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617672"/>
                  </a:ext>
                </a:extLst>
              </a:tr>
              <a:tr h="1026975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Building second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second operand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44721"/>
                  </a:ext>
                </a:extLst>
              </a:tr>
              <a:tr h="591491">
                <a:tc>
                  <a:txBody>
                    <a:bodyPr/>
                    <a:lstStyle/>
                    <a:p>
                      <a:r>
                        <a:rPr lang="en-US" dirty="0" err="1"/>
                        <a:t>q_result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1070"/>
                  </a:ext>
                </a:extLst>
              </a:tr>
              <a:tr h="718882">
                <a:tc>
                  <a:txBody>
                    <a:bodyPr/>
                    <a:lstStyle/>
                    <a:p>
                      <a:r>
                        <a:rPr lang="en-US" dirty="0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Invalid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19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20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09C9-DE00-FD12-1A2D-830268313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9EABC0-5356-05FC-4323-541882E4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1828800"/>
          </a:xfrm>
        </p:spPr>
        <p:txBody>
          <a:bodyPr/>
          <a:lstStyle/>
          <a:p>
            <a:r>
              <a:rPr lang="en-US" dirty="0"/>
              <a:t>Error State Handling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346B2E1-3BC6-7CB9-D4D0-173650D60840}"/>
              </a:ext>
            </a:extLst>
          </p:cNvPr>
          <p:cNvSpPr>
            <a:spLocks noGrp="1" noChangeArrowheads="1"/>
          </p:cNvSpPr>
          <p:nvPr>
            <p:ph sz="quarter" idx="26"/>
          </p:nvPr>
        </p:nvSpPr>
        <p:spPr bwMode="auto">
          <a:xfrm>
            <a:off x="528636" y="1381456"/>
            <a:ext cx="12144376" cy="6868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Different invalid inputs are mapped to trap state. This is to ensure the user can only type</a:t>
            </a:r>
          </a:p>
          <a:p>
            <a:r>
              <a:rPr lang="en-US" sz="2000" dirty="0"/>
              <a:t>appropriate inputs.</a:t>
            </a:r>
          </a:p>
          <a:p>
            <a:endParaRPr lang="en-US" sz="2000" dirty="0"/>
          </a:p>
          <a:p>
            <a:r>
              <a:rPr lang="en-US" sz="2000" dirty="0"/>
              <a:t>Upon invalid input the state goes to a trap state.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Error State:</a:t>
            </a:r>
            <a:endParaRPr lang="en-US" sz="2000" dirty="0"/>
          </a:p>
          <a:p>
            <a:r>
              <a:rPr lang="en-US" sz="2000" b="1" dirty="0"/>
              <a:t>Invalid Expression</a:t>
            </a:r>
            <a:r>
              <a:rPr lang="en-US" sz="2000" dirty="0"/>
              <a:t> → incomplete or incorrect input</a:t>
            </a:r>
          </a:p>
          <a:p>
            <a:r>
              <a:rPr lang="en-US" sz="2000" dirty="0"/>
              <a:t>		       → BODMAS rule not followed</a:t>
            </a:r>
          </a:p>
          <a:p>
            <a:r>
              <a:rPr lang="en-US" sz="2000" dirty="0"/>
              <a:t>		        → Division By Zero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FEB2595C-3ADB-7C41-1781-1776DB6C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793" y="2450592"/>
            <a:ext cx="2995391" cy="33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A4869-4108-EB15-4EB0-B65C291C5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85" y="4724033"/>
            <a:ext cx="7000972" cy="1709423"/>
          </a:xfrm>
        </p:spPr>
        <p:txBody>
          <a:bodyPr/>
          <a:lstStyle/>
          <a:p>
            <a:r>
              <a:rPr lang="en-US" dirty="0"/>
              <a:t>Muhammad Maaz 23FA-013-CS</a:t>
            </a:r>
          </a:p>
          <a:p>
            <a:r>
              <a:rPr lang="en-US" dirty="0"/>
              <a:t>Taha Nadeem 23FA-003-CS</a:t>
            </a:r>
          </a:p>
        </p:txBody>
      </p:sp>
    </p:spTree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{C475C23E-B9DC-440B-9E62-7FB2B08D1E89}TF9de9d6eb-65d6-487b-af48-f077b562509aeb344968_win32-6a1f3ccf387e</Template>
  <TotalTime>682</TotalTime>
  <Words>268</Words>
  <Application>Microsoft Office PowerPoint</Application>
  <PresentationFormat>Widescreen</PresentationFormat>
  <Paragraphs>77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Custom</vt:lpstr>
      <vt:lpstr>Moore Machine Based Calculator     Muhammad Maaz Saleem 23FA-013-CS  Muhammad Taha Nadeem 23FA-003-CS</vt:lpstr>
      <vt:lpstr>Preventing Misleading Sequential Calculations</vt:lpstr>
      <vt:lpstr>Why Moore Machine?</vt:lpstr>
      <vt:lpstr>Demo</vt:lpstr>
      <vt:lpstr>Working</vt:lpstr>
      <vt:lpstr>Error State Handling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23FA-013-CS  Muhammad Maaz</dc:creator>
  <cp:lastModifiedBy>23FA-013-CS  Muhammad Maaz</cp:lastModifiedBy>
  <cp:revision>4</cp:revision>
  <dcterms:created xsi:type="dcterms:W3CDTF">2025-12-14T14:34:47Z</dcterms:created>
  <dcterms:modified xsi:type="dcterms:W3CDTF">2025-12-15T13:45:56Z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